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 chose Atlanta on the 'This Budget Cycle' track. Our planner has $600k to site 3 permanent cooling centers before Council votes in 3 weeks. We built an AI assistant that predicts microclimate heat offsets, proves who benefits, and survives a contested City Council hearing."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"Notice two critical things: first, we predict thermal offset above the city mean—never fake point forecasts—and decompose every site into °F physical drivers via ML.EXPLAIN_PREDICT. Second, we explicitly answer why runner-up Site 4 in Bankhead was passed over."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"Our four-person team split into parallel engineering lanes—Data &amp; Medallion Architecture, BigQuery ML &amp; Equity Analytics, ADK Agent &amp; Managed MCP Toolbox, and Full-Stack Geospatial UI—governed by a shared contract and decision log (DEC-001 through DEC-011)."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 random split on 1 Hz road readings leaks adjacent points and yields a fake 0.98 R². We aggregated to 150m geohash-7 cells, held out entire 5km geohash-5 spatial blocks, stripped all drive-day temperatures and race columns, and beat the baseline honestly (1.254°F vs 1.355°F MAE)."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"Race was never a model input. Yet when we run our post-hoc equity audit across all 353 Atlanta census tracts, our 3 recommended sites reach communities with 3.0x to 6.1x higher car-free households, 2.3x to 3.2x higher poverty, and half the citywide median income."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"Finally, the agent drafts a cited City Council memo, but nothing leaves without human planner sign-off. It states its limits plainly—single campaign day, straight-line buffers, and honest refusal outside the 500m footprint. Data: NOAA &amp; CAPA Strategies Heat Watch (CC0), NOAA GHCN-Daily, US Census ACS. Thanks to the volunteers who drove the routes."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alibri"/>
              </a:defRPr>
            </a:pPr>
            <a:r>
              <a:t>CHALLENGE 1: CLIMATE RESILIENCE · CITY OF ATLANTA · TRACK: THIS BUDGET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407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Slide 1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Three Permanent Cooling Centers, Sited Where Heat Hurts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72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Atlanta Urban Heat Resilience Planner · Agents for Impact 2026 (Challenge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333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Calibri"/>
              </a:defRPr>
            </a:pPr>
            <a:r>
              <a:t>Live Demo: https://urban-heat-ui-1042443035046.us-central1.run.app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5715000" cy="42519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173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F97316"/>
                </a:solidFill>
                <a:latin typeface="Calibri"/>
              </a:defRPr>
            </a:pPr>
            <a:r>
              <a:t>The Municipal Decision Scenario (Atlanta, GA)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F97316"/>
                </a:solidFill>
                <a:latin typeface="Calibri"/>
              </a:rPr>
              <a:t>▸ </a:t>
            </a:r>
            <a:r>
              <a:rPr b="1" sz="1200">
                <a:solidFill>
                  <a:srgbClr val="FFFFFF"/>
                </a:solidFill>
                <a:latin typeface="Calibri"/>
              </a:rPr>
              <a:t>Who Is Asking: </a:t>
            </a:r>
            <a:r>
              <a:rPr b="0" sz="1200">
                <a:solidFill>
                  <a:srgbClr val="E2E8F0"/>
                </a:solidFill>
                <a:latin typeface="Calibri"/>
              </a:rPr>
              <a:t>Dana, Mayor's Office of Sustainability &amp; Resilience. It is 3:40 PM Tuesday; City Council votes in 3 weeks on the FY26 capital budget.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F97316"/>
                </a:solidFill>
                <a:latin typeface="Calibri"/>
              </a:rPr>
              <a:t>▸ </a:t>
            </a:r>
            <a:r>
              <a:rPr b="1" sz="1200">
                <a:solidFill>
                  <a:srgbClr val="FFFFFF"/>
                </a:solidFill>
                <a:latin typeface="Calibri"/>
              </a:rPr>
              <a:t>The Budget Mandate: </a:t>
            </a:r>
            <a:r>
              <a:rPr b="0" sz="1200">
                <a:solidFill>
                  <a:srgbClr val="E2E8F0"/>
                </a:solidFill>
                <a:latin typeface="Calibri"/>
              </a:rPr>
              <a:t>$600,000 capital allocation to fund 3 permanent cooling centers ($180k/yr each) across 353 Atlanta census tracts.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F97316"/>
                </a:solidFill>
                <a:latin typeface="Calibri"/>
              </a:rPr>
              <a:t>▸ </a:t>
            </a:r>
            <a:r>
              <a:rPr b="1" sz="1200">
                <a:solidFill>
                  <a:srgbClr val="FFFFFF"/>
                </a:solidFill>
                <a:latin typeface="Calibri"/>
              </a:rPr>
              <a:t>The Microclimate Inequality: </a:t>
            </a:r>
            <a:r>
              <a:rPr b="0" sz="1200">
                <a:solidFill>
                  <a:srgbClr val="E2E8F0"/>
                </a:solidFill>
                <a:latin typeface="Calibri"/>
              </a:rPr>
              <a:t>Airport forecasts report one city temperature, but 23,386 street-level Heat Watch traverses (city mean 82.06°F) show neighborhoods 2 miles apart differ by up to 13.5°F (-5.79°F to +7.70°F offset).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F97316"/>
                </a:solidFill>
                <a:latin typeface="Calibri"/>
              </a:rPr>
              <a:t>▸ </a:t>
            </a:r>
            <a:r>
              <a:rPr b="1" sz="1200">
                <a:solidFill>
                  <a:srgbClr val="FFFFFF"/>
                </a:solidFill>
                <a:latin typeface="Calibri"/>
              </a:rPr>
              <a:t>Why Raw Sensors Fail Council: </a:t>
            </a:r>
            <a:r>
              <a:rPr b="0" sz="1200">
                <a:solidFill>
                  <a:srgbClr val="E2E8F0"/>
                </a:solidFill>
                <a:latin typeface="Calibri"/>
              </a:rPr>
              <a:t>Siting on peak temperature alone places centers in unpopulated rail yards or clusters all 3 in one district; siting on politics leaves transit-dependent seniors unserved.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F97316"/>
                </a:solidFill>
                <a:latin typeface="Calibri"/>
              </a:rPr>
              <a:t>▸ </a:t>
            </a:r>
            <a:r>
              <a:rPr b="1" sz="1200">
                <a:solidFill>
                  <a:srgbClr val="FFFFFF"/>
                </a:solidFill>
                <a:latin typeface="Calibri"/>
              </a:rPr>
              <a:t>Our Solution: </a:t>
            </a:r>
            <a:r>
              <a:rPr b="0" sz="1200">
                <a:solidFill>
                  <a:srgbClr val="E2E8F0"/>
                </a:solidFill>
                <a:latin typeface="Calibri"/>
              </a:rPr>
              <a:t>A live Google Cloud ADK + BigQuery ML spatial decision assistant that predicts street-level heat offsets (°F above city mean), explains physical drivers, enforces non-overlapping catchments, and audits equity.</a:t>
            </a:r>
          </a:p>
        </p:txBody>
      </p:sp>
      <p:pic>
        <p:nvPicPr>
          <p:cNvPr id="12" name="Picture 11" descr="step_216_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98448"/>
            <a:ext cx="5376672" cy="42938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650992"/>
            <a:ext cx="11277295" cy="658368"/>
          </a:xfrm>
          <a:prstGeom prst="roundRect">
            <a:avLst>
              <a:gd name="adj" fmla="val 3000"/>
            </a:avLst>
          </a:prstGeom>
          <a:solidFill>
            <a:srgbClr val="1721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05856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38BDF8"/>
                </a:solidFill>
                <a:latin typeface="Calibri"/>
              </a:rPr>
              <a:t>Speaker Note: </a:t>
            </a:r>
            <a:r>
              <a:rPr i="1" sz="1050">
                <a:solidFill>
                  <a:srgbClr val="E2E8F0"/>
                </a:solidFill>
                <a:latin typeface="Calibri"/>
              </a:rPr>
              <a:t>"We chose Atlanta on the 'This Budget Cycle' track. Our planner has $600k to site 3 permanent cooling centers before Council votes in 3 weeks. We built an AI assistant that predicts microclimate heat offsets, proves who benefits, and survives a contested City Council hearing."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alibri"/>
              </a:defRPr>
            </a:pPr>
            <a:r>
              <a:t>PLACEMENT RECOMMENDATION · BIGQUERY ML (ML.EXPLAIN_PREDICT) &amp; SPATIAL SITING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407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Slide 2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The Answer: 3 Non-Overlapping Sites + Why Site #4 Was Displaced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72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Atlanta Urban Heat Resilience Planner · Agents for Impact 2026 (Challenge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333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Calibri"/>
              </a:defRPr>
            </a:pPr>
            <a:r>
              <a:t>BQML Model: qwiklabs-gcp-04-ec3596addc43.a4i_ml.offset_model_v1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5715000" cy="42519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173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38BDF8"/>
                </a:solidFill>
                <a:latin typeface="Calibri"/>
              </a:defRPr>
            </a:pPr>
            <a:r>
              <a:t>3 Funded Picks ($540k / $600k Cap · 12,260 Reached in 0.5 mi)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38BDF8"/>
                </a:solidFill>
                <a:latin typeface="Calibri"/>
              </a:rPr>
              <a:t>▸ </a:t>
            </a:r>
            <a:r>
              <a:rPr b="1" sz="1150">
                <a:solidFill>
                  <a:srgbClr val="FFFFFF"/>
                </a:solidFill>
                <a:latin typeface="Calibri"/>
              </a:rPr>
              <a:t>Offset, Never Raw Temperature: </a:t>
            </a:r>
            <a:r>
              <a:rPr b="0" sz="1150">
                <a:solidFill>
                  <a:srgbClr val="E2E8F0"/>
                </a:solidFill>
                <a:latin typeface="Calibri"/>
              </a:rPr>
              <a:t>Every site is scored on predicted thermal offset (+°F vs. 82.06°F city mean) × 7-yr NOAA GHCN hot days (≥95°F) × car-free &amp; 65+ senior density, with greedy ≥2.0 km spacing.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38BDF8"/>
                </a:solidFill>
                <a:latin typeface="Calibri"/>
              </a:rPr>
              <a:t>▸ </a:t>
            </a:r>
            <a:r>
              <a:rPr b="1" sz="1150">
                <a:solidFill>
                  <a:srgbClr val="FFFFFF"/>
                </a:solidFill>
                <a:latin typeface="Calibri"/>
              </a:rPr>
              <a:t>Site #1 · Mechanicsville (Tract 58.00 / 76.03): </a:t>
            </a:r>
            <a:r>
              <a:rPr b="0" sz="1150">
                <a:solidFill>
                  <a:srgbClr val="E2E8F0"/>
                </a:solidFill>
                <a:latin typeface="Calibri"/>
              </a:rPr>
              <a:t>+4.4°F vs. city mean · 44 days/yr ≥95°F · 4,890 residents in 0.5 mi (28.4%–56.4% no-car, 16.2% 65+). EXPLAIN_PREDICT drivers: Impervious surface (+2.3°F), Street density (+1.4°F), Land-use mix (+1.0°F), Park proximity (-0.3°F).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38BDF8"/>
                </a:solidFill>
                <a:latin typeface="Calibri"/>
              </a:rPr>
              <a:t>▸ </a:t>
            </a:r>
            <a:r>
              <a:rPr b="1" sz="1150">
                <a:solidFill>
                  <a:srgbClr val="FFFFFF"/>
                </a:solidFill>
                <a:latin typeface="Calibri"/>
              </a:rPr>
              <a:t>Site #2 · Old Fourth Ward / Ashview (Tract 42.00): </a:t>
            </a:r>
            <a:r>
              <a:rPr b="0" sz="1150">
                <a:solidFill>
                  <a:srgbClr val="E2E8F0"/>
                </a:solidFill>
                <a:latin typeface="Calibri"/>
              </a:rPr>
              <a:t>+3.9°F vs. city mean · 42 days/yr ≥95°F · 4,120 residents (24.1%–46.7% no-car, 17.8% 65+). Drivers: Impervious surface (+1.9°F), Street density (+1.4°F).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38BDF8"/>
                </a:solidFill>
                <a:latin typeface="Calibri"/>
              </a:rPr>
              <a:t>▸ </a:t>
            </a:r>
            <a:r>
              <a:rPr b="1" sz="1150">
                <a:solidFill>
                  <a:srgbClr val="FFFFFF"/>
                </a:solidFill>
                <a:latin typeface="Calibri"/>
              </a:rPr>
              <a:t>Site #3 · West End / Summerhill (Tract 48.00): </a:t>
            </a:r>
            <a:r>
              <a:rPr b="0" sz="1150">
                <a:solidFill>
                  <a:srgbClr val="E2E8F0"/>
                </a:solidFill>
                <a:latin typeface="Calibri"/>
              </a:rPr>
              <a:t>+3.6°F vs. city mean · 41 days/yr ≥95°F · 3,250 residents (22.5%–38.0% no-car, 14.6%–24.2% 65+). Unmeasured tract predicted via BQML.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38BDF8"/>
                </a:solidFill>
                <a:latin typeface="Calibri"/>
              </a:rPr>
              <a:t>▸ </a:t>
            </a:r>
            <a:r>
              <a:rPr b="1" sz="1150">
                <a:solidFill>
                  <a:srgbClr val="FFFFFF"/>
                </a:solidFill>
                <a:latin typeface="Calibri"/>
              </a:rPr>
              <a:t>Why Not Site #4 (Bankhead / Midtown Edge)? </a:t>
            </a:r>
            <a:r>
              <a:rPr b="0" sz="1150">
                <a:solidFill>
                  <a:srgbClr val="E2E8F0"/>
                </a:solidFill>
                <a:latin typeface="Calibri"/>
              </a:rPr>
              <a:t>Runs +3.1°F (39 days ≥95°F) but has less than half the car-free rate (12.4% vs. 28.4% at Site #1) and reaches 2,480 vs. 4,890 residents.</a:t>
            </a:r>
          </a:p>
        </p:txBody>
      </p:sp>
      <p:pic>
        <p:nvPicPr>
          <p:cNvPr id="12" name="Picture 11" descr="step_217_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98448"/>
            <a:ext cx="5376672" cy="42938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650992"/>
            <a:ext cx="11277295" cy="658368"/>
          </a:xfrm>
          <a:prstGeom prst="roundRect">
            <a:avLst>
              <a:gd name="adj" fmla="val 3000"/>
            </a:avLst>
          </a:prstGeom>
          <a:solidFill>
            <a:srgbClr val="1721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05856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38BDF8"/>
                </a:solidFill>
                <a:latin typeface="Calibri"/>
              </a:rPr>
              <a:t>Speaker Note: </a:t>
            </a:r>
            <a:r>
              <a:rPr i="1" sz="1050">
                <a:solidFill>
                  <a:srgbClr val="E2E8F0"/>
                </a:solidFill>
                <a:latin typeface="Calibri"/>
              </a:rPr>
              <a:t>"Notice two critical things: first, we predict thermal offset above the city mean—never fake point forecasts—and decompose every site into °F physical drivers via ML.EXPLAIN_PREDICT. Second, we explicitly answer why runner-up Site 4 in Bankhead was passed over."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alibri"/>
              </a:defRPr>
            </a:pPr>
            <a:r>
              <a:t>OUR TEAM · CROSS-FUNCTIONAL ENGINEERING LANES · AGENTS FOR IMPACT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407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Slide 3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Our Team: Built Across Four Specialized Engineering Lanes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72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Atlanta Urban Heat Resilience Planner · Agents for Impact 2026 (Challenge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333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Calibri"/>
              </a:defRPr>
            </a:pPr>
            <a:r>
              <a:t>GitHub: https://github.com/chintamanenirc/A4I2026-challenge-1-walkability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5559552" cy="2057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89888"/>
            <a:ext cx="52303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Rama Chintamaneni  </a:t>
            </a:r>
            <a:r>
              <a:rPr sz="1000">
                <a:solidFill>
                  <a:srgbClr val="94A3B8"/>
                </a:solidFill>
                <a:latin typeface="Calibri"/>
              </a:rPr>
              <a:t>(@chintamanenirc · chintamaneni.rc@gmail.com)</a:t>
            </a:r>
          </a:p>
          <a:p>
            <a:pPr>
              <a:spcAft>
                <a:spcPts val="500"/>
              </a:spcAft>
              <a:defRPr sz="1050" b="1">
                <a:solidFill>
                  <a:srgbClr val="38BDF8"/>
                </a:solidFill>
                <a:latin typeface="Calibri"/>
              </a:defRPr>
            </a:pPr>
            <a:r>
              <a:t>CLOUD PLATFORM, ADK AGENT &amp; MCP LEAD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Google ADK &amp; Tooling: </a:t>
            </a:r>
            <a:r>
              <a:rPr sz="1050">
                <a:solidFill>
                  <a:srgbClr val="E2E8F0"/>
                </a:solidFill>
                <a:latin typeface="Calibri"/>
              </a:rPr>
              <a:t>Architected the HeatPlanner ADK agent, system instructions, ground-rule refusal gates, and Google Maps Geocoding integration.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Managed MCP Toolbox: </a:t>
            </a:r>
            <a:r>
              <a:rPr sz="1050">
                <a:solidFill>
                  <a:srgbClr val="E2E8F0"/>
                </a:solidFill>
                <a:latin typeface="Calibri"/>
              </a:rPr>
              <a:t>Deployed private Cloud Run MCP Toolbox (heat-toolbox) with parameterized BigQuery tools (tools.yaml) and workload identity auth.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Spatial Siting Engine: </a:t>
            </a:r>
            <a:r>
              <a:rPr sz="1050">
                <a:solidFill>
                  <a:srgbClr val="E2E8F0"/>
                </a:solidFill>
                <a:latin typeface="Calibri"/>
              </a:rPr>
              <a:t>Built Haversine greedy spacing (spread_sites &gt;= 2.0 km) and VizSpecBuilder contracts across PRs #6, #7, #10, and #11.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98448"/>
            <a:ext cx="5559552" cy="2057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89888"/>
            <a:ext cx="52303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Harika  </a:t>
            </a:r>
            <a:r>
              <a:rPr sz="1000">
                <a:solidFill>
                  <a:srgbClr val="94A3B8"/>
                </a:solidFill>
                <a:latin typeface="Calibri"/>
              </a:rPr>
              <a:t>(@harika126 · harika126@gmail.com)</a:t>
            </a:r>
          </a:p>
          <a:p>
            <a:pPr>
              <a:spcAft>
                <a:spcPts val="500"/>
              </a:spcAft>
              <a:defRPr sz="1050" b="1">
                <a:solidFill>
                  <a:srgbClr val="F97316"/>
                </a:solidFill>
                <a:latin typeface="Calibri"/>
              </a:defRPr>
            </a:pPr>
            <a:r>
              <a:t>DATA ARCHITECTURE &amp; ORCHESTRATION LEAD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4-Layer Medallion Warehouse: </a:t>
            </a:r>
            <a:r>
              <a:rPr sz="1050">
                <a:solidFill>
                  <a:srgbClr val="E2E8F0"/>
                </a:solidFill>
                <a:latin typeface="Calibri"/>
              </a:rPr>
              <a:t>Engineered a4i_core, a4i_semantic, and a4i_ml in BigQuery (353 tracts, 2,020 geohash-7 cells, 17,452 GHCN station-days).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Data Quality &amp; Licensing: </a:t>
            </a:r>
            <a:r>
              <a:rPr sz="1050">
                <a:solidFill>
                  <a:srgbClr val="E2E8F0"/>
                </a:solidFill>
                <a:latin typeface="Calibri"/>
              </a:rPr>
              <a:t>Resolved -9999.0 sentinels, LPAD 11-char FIPS, joined US Census TIGER &amp; ACS 65+ (100% match), and passed 13/13 validation checks.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Zero-Skew Feature TVF: </a:t>
            </a:r>
            <a:r>
              <a:rPr sz="1050">
                <a:solidFill>
                  <a:srgbClr val="E2E8F0"/>
                </a:solidFill>
                <a:latin typeface="Calibri"/>
              </a:rPr>
              <a:t>Built a4i_ml.point_features(pts) with 500 m campaign footprint refusal gate and co-built Stage 1/2 HeatPlannerOrchestrator.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93008"/>
            <a:ext cx="5559552" cy="2057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584448"/>
            <a:ext cx="52303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Faizan Chundrigar  </a:t>
            </a:r>
            <a:r>
              <a:rPr sz="1000">
                <a:solidFill>
                  <a:srgbClr val="94A3B8"/>
                </a:solidFill>
                <a:latin typeface="Calibri"/>
              </a:rPr>
              <a:t>(@faizy31796 · faizy31796@gmail.com)</a:t>
            </a:r>
          </a:p>
          <a:p>
            <a:pPr>
              <a:spcAft>
                <a:spcPts val="500"/>
              </a:spcAft>
              <a:defRPr sz="1050" b="1">
                <a:solidFill>
                  <a:srgbClr val="34D399"/>
                </a:solidFill>
                <a:latin typeface="Calibri"/>
              </a:defRPr>
            </a:pPr>
            <a:r>
              <a:t>MACHINE LEARNING &amp; EQUITY ANALYTICS ENGINEER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Leak-Free BQML Model: </a:t>
            </a:r>
            <a:r>
              <a:rPr sz="1050">
                <a:solidFill>
                  <a:srgbClr val="E2E8F0"/>
                </a:solidFill>
                <a:latin typeface="Calibri"/>
              </a:rPr>
              <a:t>Trained a4i_ml.offset_model_v1 (LINEAR_REG, enable_global_explain=TRUE, l2_reg=0.1) with zero drive-day or racial features.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Spatial-Block Validation: </a:t>
            </a:r>
            <a:r>
              <a:rPr sz="1050">
                <a:solidFill>
                  <a:srgbClr val="E2E8F0"/>
                </a:solidFill>
                <a:latin typeface="Calibri"/>
              </a:rPr>
              <a:t>Designed geohash-5 (~4.9 km) spatial-block holdout (1,378 train / 484 eval cells) beating baseline (MAE 1.254°F vs. 1.355°F).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Grid Scoring &amp; Equity Audit: </a:t>
            </a:r>
            <a:r>
              <a:rPr sz="1050">
                <a:solidFill>
                  <a:srgbClr val="E2E8F0"/>
                </a:solidFill>
                <a:latin typeface="Calibri"/>
              </a:rPr>
              <a:t>Pre-computed 5,618 ~250 m ML.EXPLAIN_PREDICT points (grid_predictions) and authored sql/audit/audit.sql outcome audit.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93008"/>
            <a:ext cx="5559552" cy="2057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584448"/>
            <a:ext cx="52303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N. Viradiya  </a:t>
            </a:r>
            <a:r>
              <a:rPr sz="1000">
                <a:solidFill>
                  <a:srgbClr val="94A3B8"/>
                </a:solidFill>
                <a:latin typeface="Calibri"/>
              </a:rPr>
              <a:t>(@nviradiya · Urban Heat Team)</a:t>
            </a:r>
          </a:p>
          <a:p>
            <a:pPr>
              <a:spcAft>
                <a:spcPts val="500"/>
              </a:spcAft>
              <a:defRPr sz="1050" b="1">
                <a:solidFill>
                  <a:srgbClr val="FBBF24"/>
                </a:solidFill>
                <a:latin typeface="Calibri"/>
              </a:defRPr>
            </a:pPr>
            <a:r>
              <a:t>FULL-STACK AI &amp; GEOSPATIAL UX LEAD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Production Next.js 16 + React 19 UI: </a:t>
            </a:r>
            <a:r>
              <a:rPr sz="1050">
                <a:solidFill>
                  <a:srgbClr val="E2E8F0"/>
                </a:solidFill>
                <a:latin typeface="Calibri"/>
              </a:rPr>
              <a:t>Built the 4-tab municipal workbench (Ask, Sites, Equity Audit, Proposal) with interactive Voronoi census tract tessellation.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Grounding Verifier &amp; Live API: </a:t>
            </a:r>
            <a:r>
              <a:rPr sz="1050">
                <a:solidFill>
                  <a:srgbClr val="E2E8F0"/>
                </a:solidFill>
                <a:latin typeface="Calibri"/>
              </a:rPr>
              <a:t>Implemented GroundingVerifier &amp; FallbackRenderer to verify every °F, %, and headcount against live BigQuery semantic data.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• Human-in-the-Loop Governance: </a:t>
            </a:r>
            <a:r>
              <a:rPr sz="1050">
                <a:solidFill>
                  <a:srgbClr val="E2E8F0"/>
                </a:solidFill>
                <a:latin typeface="Calibri"/>
              </a:rPr>
              <a:t>Created interactive Site 1 vs. Site 4 trade-off modal, Equity Audit scatter plot, and signed Council Proposal PDF exporter.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50992"/>
            <a:ext cx="11277295" cy="658368"/>
          </a:xfrm>
          <a:prstGeom prst="roundRect">
            <a:avLst>
              <a:gd name="adj" fmla="val 3000"/>
            </a:avLst>
          </a:prstGeom>
          <a:solidFill>
            <a:srgbClr val="1721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705856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38BDF8"/>
                </a:solidFill>
                <a:latin typeface="Calibri"/>
              </a:rPr>
              <a:t>Speaker Note: </a:t>
            </a:r>
            <a:r>
              <a:rPr i="1" sz="1050">
                <a:solidFill>
                  <a:srgbClr val="E2E8F0"/>
                </a:solidFill>
                <a:latin typeface="Calibri"/>
              </a:rPr>
              <a:t>"Our four-person team split into parallel engineering lanes—Data &amp; Medallion Architecture, BigQuery ML &amp; Equity Analytics, ADK Agent &amp; Managed MCP Toolbox, and Full-Stack Geospatial UI—governed by a shared contract and decision log (DEC-001 through DEC-011)."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alibri"/>
              </a:defRPr>
            </a:pPr>
            <a:r>
              <a:t>TECHNICAL EXECUTION &amp; RIGOR · GOOGLE ADK + BIGQUERY ML + MANAGED MCP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407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Slide 4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Architecture &amp; Why You Can Trust It: Leak-Free Spatial Holdout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72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Atlanta Urban Heat Resilience Planner · Agents for Impact 2026 (Challenge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333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Calibri"/>
              </a:defRPr>
            </a:pPr>
            <a:r>
              <a:t>Project: qwiklabs-gcp-04-ec3596addc43 · Region: us-central1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5715000" cy="42519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173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38BDF8"/>
                </a:solidFill>
                <a:latin typeface="Calibri"/>
              </a:defRPr>
            </a:pPr>
            <a:r>
              <a:t>End-to-End Google Cloud Stack &amp; Validation Rigor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38BDF8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Google ADK + Gemini 2.5 Flash: </a:t>
            </a:r>
            <a:r>
              <a:rPr b="0" sz="1130">
                <a:solidFill>
                  <a:srgbClr val="E2E8F0"/>
                </a:solidFill>
                <a:latin typeface="Calibri"/>
              </a:rPr>
              <a:t>Multi-agent orchestrator calling custom Python tools (explain_heat_offset, select_cooling_center_sites, run_equity_audit) + GroundingVerifier.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38BDF8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Managed MCP Server (heat-toolbox): </a:t>
            </a:r>
            <a:r>
              <a:rPr b="0" sz="1130">
                <a:solidFill>
                  <a:srgbClr val="E2E8F0"/>
                </a:solidFill>
                <a:latin typeface="Calibri"/>
              </a:rPr>
              <a:t>Cloud Run MCP Toolbox for Databases exposing parameterized SQL tools over a4i_semantic (dim_tract, site_hot_days, vulnerable_population) with least-privilege IAM (toolbox-sa, heat-agent-sa).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38BDF8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Where vs. How Often Separation: </a:t>
            </a:r>
            <a:r>
              <a:rPr b="0" sz="1130">
                <a:solidFill>
                  <a:srgbClr val="E2E8F0"/>
                </a:solidFill>
                <a:latin typeface="Calibri"/>
              </a:rPr>
              <a:t>Heat Watch (23,386 readings, 100% NULL timestamps) answers spatial WHERE; 7-year NOAA GHCN daily history (17,452 station-days across 7 stations) answers temporal HOW OFTEN via site_hot_days(offset_f).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38BDF8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Defeating 1 Hz Spatial Leakage: </a:t>
            </a:r>
            <a:r>
              <a:rPr b="0" sz="1130">
                <a:solidFill>
                  <a:srgbClr val="E2E8F0"/>
                </a:solidFill>
                <a:latin typeface="Calibri"/>
              </a:rPr>
              <a:t>Aggregated 23,386 points into 2,020 geohash-7 (~150 m) cells and held out 6 whole geohash-5 (~4.9 km) blocks (484 eval / 1,378 train). Excluded temp_f, heat_index_f, humidity_pct, and all race columns.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38BDF8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Verified BQML Performance: </a:t>
            </a:r>
            <a:r>
              <a:rPr b="0" sz="1130">
                <a:solidFill>
                  <a:srgbClr val="E2E8F0"/>
                </a:solidFill>
                <a:latin typeface="Calibri"/>
              </a:rPr>
              <a:t>a4i_ml.offset_model_v1 beats predict-zero baseline on held-out spatial blocks (MAE = 1.254°F vs. 1.355°F; RMSE = 1.542°F vs. 1.622°F) and passes 13/13 SQL validation checks.</a:t>
            </a:r>
          </a:p>
        </p:txBody>
      </p:sp>
      <p:pic>
        <p:nvPicPr>
          <p:cNvPr id="12" name="Picture 1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98448"/>
            <a:ext cx="5376672" cy="300093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650992"/>
            <a:ext cx="11277295" cy="658368"/>
          </a:xfrm>
          <a:prstGeom prst="roundRect">
            <a:avLst>
              <a:gd name="adj" fmla="val 3000"/>
            </a:avLst>
          </a:prstGeom>
          <a:solidFill>
            <a:srgbClr val="1721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05856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38BDF8"/>
                </a:solidFill>
                <a:latin typeface="Calibri"/>
              </a:rPr>
              <a:t>Speaker Note: </a:t>
            </a:r>
            <a:r>
              <a:rPr i="1" sz="1050">
                <a:solidFill>
                  <a:srgbClr val="E2E8F0"/>
                </a:solidFill>
                <a:latin typeface="Calibri"/>
              </a:rPr>
              <a:t>"A random split on 1 Hz road readings leaks adjacent points and yields a fake 0.98 R². We aggregated to 150m geohash-7 cells, held out entire 5km geohash-5 spatial blocks, stripped all drive-day temperatures and race columns, and beat the baseline honestly (1.254°F vs 1.355°F MAE)."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alibri"/>
              </a:defRPr>
            </a:pPr>
            <a:r>
              <a:t>ETHICAL AI &amp; OUTCOME AUDIT · RACE EXCLUDED FROM INPUTS, AUDITED ON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407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Slide 5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Equity Audit: 4 of 4 Measures Confirm Need-Based Prioritization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72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Atlanta Urban Heat Resilience Planner · Agents for Impact 2026 (Challenge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333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Calibri"/>
              </a:defRPr>
            </a:pPr>
            <a:r>
              <a:t>Audit View: qwiklabs-gcp-04-ec3596addc43.a4i_semantic.audit_city_baseline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5715000" cy="42519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173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F97316"/>
                </a:solidFill>
                <a:latin typeface="Calibri"/>
              </a:defRPr>
            </a:pPr>
            <a:r>
              <a:t>Post-Hoc Equity Audit vs. Atlanta Baseline (353 Tracts)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F97316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Strict Ethical Guardrail (DEC-005): </a:t>
            </a:r>
            <a:r>
              <a:rPr b="0" sz="1130">
                <a:solidFill>
                  <a:srgbClr val="E2E8F0"/>
                </a:solidFill>
                <a:latin typeface="Calibri"/>
              </a:rPr>
              <a:t>Race and ethnicity are never used in a4i_core, BQML training features, or site ranking. We audit the recommended outputs post-hoc against a4i_semantic.audit_city_baseline.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F97316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Households Without a Vehicle: </a:t>
            </a:r>
            <a:r>
              <a:rPr b="0" sz="1130">
                <a:solidFill>
                  <a:srgbClr val="E2E8F0"/>
                </a:solidFill>
                <a:latin typeface="Calibri"/>
              </a:rPr>
              <a:t>25.0% in 0.5-mi catchment (50.41% in core tracts) vs. 8.23% Atlanta average → 3.0x to 6.12x higher transit dependency.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F97316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Poverty Rate: </a:t>
            </a:r>
            <a:r>
              <a:rPr b="0" sz="1130">
                <a:solidFill>
                  <a:srgbClr val="E2E8F0"/>
                </a:solidFill>
                <a:latin typeface="Calibri"/>
              </a:rPr>
              <a:t>31.8% in catchment (44.05% in core tracts) vs. 13.95% Atlanta average → 2.3x to 3.16x higher poverty concentration.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F97316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Seniors Aged 65+: </a:t>
            </a:r>
            <a:r>
              <a:rPr b="0" sz="1130">
                <a:solidFill>
                  <a:srgbClr val="E2E8F0"/>
                </a:solidFill>
                <a:latin typeface="Calibri"/>
              </a:rPr>
              <a:t>16.2% in catchment (19.44% in core tracts) vs. 12.47% Atlanta average → 1.3x to 1.56x higher senior vulnerability.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F97316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Median Household Income: </a:t>
            </a:r>
            <a:r>
              <a:rPr b="0" sz="1130">
                <a:solidFill>
                  <a:srgbClr val="E2E8F0"/>
                </a:solidFill>
                <a:latin typeface="Calibri"/>
              </a:rPr>
              <a:t>$38,133 in catchment ($17,853 in core tracts) vs. $75,714 Atlanta average (50% to 76% below citywide median).</a:t>
            </a:r>
          </a:p>
          <a:p>
            <a:pPr>
              <a:spcAft>
                <a:spcPts val="700"/>
              </a:spcAft>
            </a:pPr>
            <a:r>
              <a:rPr b="1" sz="1130">
                <a:solidFill>
                  <a:srgbClr val="F97316"/>
                </a:solidFill>
                <a:latin typeface="Calibri"/>
              </a:rPr>
              <a:t>▸ </a:t>
            </a:r>
            <a:r>
              <a:rPr b="1" sz="1130">
                <a:solidFill>
                  <a:srgbClr val="FFFFFF"/>
                </a:solidFill>
                <a:latin typeface="Calibri"/>
              </a:rPr>
              <a:t>Post-Hoc ACS Racial Check (Output Only): </a:t>
            </a:r>
            <a:r>
              <a:rPr b="0" sz="1130">
                <a:solidFill>
                  <a:srgbClr val="E2E8F0"/>
                </a:solidFill>
                <a:latin typeface="Calibri"/>
              </a:rPr>
              <a:t>Selected tracts are 90.81% Black residents vs. 41.66% citywide (2.18x), proving physical heat + transit siting reaches historically redlined neighborhoods without demographic bias in the model.</a:t>
            </a:r>
          </a:p>
        </p:txBody>
      </p:sp>
      <p:pic>
        <p:nvPicPr>
          <p:cNvPr id="12" name="Picture 11" descr="step_207_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98448"/>
            <a:ext cx="5376672" cy="42938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650992"/>
            <a:ext cx="11277295" cy="658368"/>
          </a:xfrm>
          <a:prstGeom prst="roundRect">
            <a:avLst>
              <a:gd name="adj" fmla="val 3000"/>
            </a:avLst>
          </a:prstGeom>
          <a:solidFill>
            <a:srgbClr val="1721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05856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38BDF8"/>
                </a:solidFill>
                <a:latin typeface="Calibri"/>
              </a:rPr>
              <a:t>Speaker Note: </a:t>
            </a:r>
            <a:r>
              <a:rPr i="1" sz="1050">
                <a:solidFill>
                  <a:srgbClr val="E2E8F0"/>
                </a:solidFill>
                <a:latin typeface="Calibri"/>
              </a:rPr>
              <a:t>"Race was never a model input. Yet when we run our post-hoc equity audit across all 353 Atlanta census tracts, our 3 recommended sites reach communities with 3.0x to 6.1x higher car-free households, 2.3x to 3.2x higher poverty, and half the citywide median income."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Calibri"/>
              </a:defRPr>
            </a:pPr>
            <a:r>
              <a:t>CRAFT, LIMITATIONS &amp; SUBMISSION PACKAGE · COUNCIL-READY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407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Slide 6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72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Human-in-the-Loop Council Memo, Honest Limits &amp; Live Links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729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Atlanta Urban Heat Resilience Planner · Agents for Impact 2026 (Challenge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64808"/>
            <a:ext cx="5333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4A3B8"/>
                </a:solidFill>
                <a:latin typeface="Calibri"/>
              </a:defRPr>
            </a:pPr>
            <a:r>
              <a:t>Data: NOAA &amp; CAPA Heat Watch (CC0), NOAA GHCN-Daily, US Census ACS/TIGER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5715000" cy="42519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89888"/>
            <a:ext cx="53949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34D399"/>
                </a:solidFill>
                <a:latin typeface="Calibri"/>
              </a:defRPr>
            </a:pPr>
            <a:r>
              <a:t>Why Custom UI, Honest Boundaries &amp; Submission Links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  <a:latin typeface="Calibri"/>
              </a:rPr>
              <a:t>▸ </a:t>
            </a:r>
            <a:r>
              <a:rPr b="1" sz="1100">
                <a:solidFill>
                  <a:srgbClr val="FFFFFF"/>
                </a:solidFill>
                <a:latin typeface="Calibri"/>
              </a:rPr>
              <a:t>Why Custom Next.js UI on Cloud Run: </a:t>
            </a:r>
            <a:r>
              <a:rPr b="0" sz="1100">
                <a:solidFill>
                  <a:srgbClr val="E2E8F0"/>
                </a:solidFill>
                <a:latin typeface="Calibri"/>
              </a:rPr>
              <a:t>Planners defending a $600k vote need interactive Voronoi tract maps, Site 1 vs. Site 4 trade-off cards, and a Human-in-the-Loop sign-off memo (not a raw developer chat). Pinned min-instances=1.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  <a:latin typeface="Calibri"/>
              </a:rPr>
              <a:t>▸ </a:t>
            </a:r>
            <a:r>
              <a:rPr b="1" sz="1100">
                <a:solidFill>
                  <a:srgbClr val="FFFFFF"/>
                </a:solidFill>
                <a:latin typeface="Calibri"/>
              </a:rPr>
              <a:t>Honest Refusal Gate (DEC-007): </a:t>
            </a:r>
            <a:r>
              <a:rPr b="0" sz="1100">
                <a:solidFill>
                  <a:srgbClr val="E2E8F0"/>
                </a:solidFill>
                <a:latin typeface="Calibri"/>
              </a:rPr>
              <a:t>a4i_ml.point_features enforces in_footprint (&lt;=500 m from Heat Watch route). Queries in Marietta (12.3 km out) or Chicago are refused honestly.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  <a:latin typeface="Calibri"/>
              </a:rPr>
              <a:t>▸ </a:t>
            </a:r>
            <a:r>
              <a:rPr b="1" sz="1100">
                <a:solidFill>
                  <a:srgbClr val="FFFFFF"/>
                </a:solidFill>
                <a:latin typeface="Calibri"/>
              </a:rPr>
              <a:t>Known Model Limitations: </a:t>
            </a:r>
            <a:r>
              <a:rPr b="0" sz="1100">
                <a:solidFill>
                  <a:srgbClr val="E2E8F0"/>
                </a:solidFill>
                <a:latin typeface="Calibri"/>
              </a:rPr>
              <a:t>(1) Single-day Heat Watch campaign snapshot; (2) Predicts current exposure offset, cannot simulate cooling ΔT from planting new trees; (3) Straight-line 0.5-mi / 1.5-km buffers, not turn-by-turn walk isochrones; (4) 100% US Gov/CC0 data (zero OSM/ODbL).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  <a:latin typeface="Calibri"/>
              </a:rPr>
              <a:t>▸ </a:t>
            </a:r>
            <a:r>
              <a:rPr b="1" sz="1100">
                <a:solidFill>
                  <a:srgbClr val="FFFFFF"/>
                </a:solidFill>
                <a:latin typeface="Calibri"/>
              </a:rPr>
              <a:t>Explore Qwiklabs Project: </a:t>
            </a:r>
            <a:r>
              <a:rPr b="0" sz="1100">
                <a:solidFill>
                  <a:srgbClr val="E2E8F0"/>
                </a:solidFill>
                <a:latin typeface="Calibri"/>
              </a:rPr>
              <a:t>qwiklabs-gcp-04-ec3596addc43 · https://console.cloud.google.com/welcome?project=qwiklabs-gcp-04-ec3596addc43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  <a:latin typeface="Calibri"/>
              </a:rPr>
              <a:t>▸ </a:t>
            </a:r>
            <a:r>
              <a:rPr b="1" sz="1100">
                <a:solidFill>
                  <a:srgbClr val="FFFFFF"/>
                </a:solidFill>
                <a:latin typeface="Calibri"/>
              </a:rPr>
              <a:t>GitHub Repository: </a:t>
            </a:r>
            <a:r>
              <a:rPr b="0" sz="1100">
                <a:solidFill>
                  <a:srgbClr val="E2E8F0"/>
                </a:solidFill>
                <a:latin typeface="Calibri"/>
              </a:rPr>
              <a:t>https://github.com/chintamanenirc/A4I2026-challenge-1-walkability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  <a:latin typeface="Calibri"/>
              </a:rPr>
              <a:t>▸ </a:t>
            </a:r>
            <a:r>
              <a:rPr b="1" sz="1100">
                <a:solidFill>
                  <a:srgbClr val="FFFFFF"/>
                </a:solidFill>
                <a:latin typeface="Calibri"/>
              </a:rPr>
              <a:t>Live Demo &amp; Agent URLs: </a:t>
            </a:r>
            <a:r>
              <a:rPr b="0" sz="1100">
                <a:solidFill>
                  <a:srgbClr val="E2E8F0"/>
                </a:solidFill>
                <a:latin typeface="Calibri"/>
              </a:rPr>
              <a:t>UI: https://urban-heat-ui-1042443035046.us-central1.run.app | Agent: https://urban-heat-agent-1042443035046.us-central1.run.app</a:t>
            </a:r>
          </a:p>
        </p:txBody>
      </p:sp>
      <p:pic>
        <p:nvPicPr>
          <p:cNvPr id="12" name="Picture 11" descr="step_208_medi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98448"/>
            <a:ext cx="5376672" cy="512650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650992"/>
            <a:ext cx="11277295" cy="658368"/>
          </a:xfrm>
          <a:prstGeom prst="roundRect">
            <a:avLst>
              <a:gd name="adj" fmla="val 3000"/>
            </a:avLst>
          </a:prstGeom>
          <a:solidFill>
            <a:srgbClr val="1721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05856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38BDF8"/>
                </a:solidFill>
                <a:latin typeface="Calibri"/>
              </a:rPr>
              <a:t>Speaker Note: </a:t>
            </a:r>
            <a:r>
              <a:rPr i="1" sz="1050">
                <a:solidFill>
                  <a:srgbClr val="E2E8F0"/>
                </a:solidFill>
                <a:latin typeface="Calibri"/>
              </a:rPr>
              <a:t>"Finally, the agent drafts a cited City Council memo, but nothing leaves without human planner sign-off. It states its limits plainly—single campaign day, straight-line buffers, and honest refusal outside the 500m footprint. Data: NOAA &amp; CAPA Strategies Heat Watch (CC0), NOAA GHCN-Daily, US Census ACS. Thanks to the volunteers who drove the routes."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